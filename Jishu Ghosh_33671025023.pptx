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57" r:id="rId4"/>
    <p:sldId id="258" r:id="rId5"/>
    <p:sldId id="259" r:id="rId6"/>
    <p:sldId id="263" r:id="rId7"/>
    <p:sldId id="264" r:id="rId8"/>
    <p:sldId id="265" r:id="rId9"/>
    <p:sldId id="260" r:id="rId10"/>
    <p:sldId id="261" r:id="rId11"/>
    <p:sldId id="262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0132" y="990286"/>
            <a:ext cx="1033272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 dirty="0">
                <a:solidFill>
                  <a:srgbClr val="1F3756"/>
                </a:solidFill>
              </a:rPr>
              <a:t>ARTIFICIAL INTELLIGENCE</a:t>
            </a:r>
          </a:p>
          <a:p>
            <a:pPr algn="ctr"/>
            <a:r>
              <a:rPr sz="3100" dirty="0">
                <a:solidFill>
                  <a:srgbClr val="4472C4"/>
                </a:solidFill>
              </a:rPr>
              <a:t>Search Techniques</a:t>
            </a:r>
          </a:p>
          <a:p>
            <a:pPr algn="ctr"/>
            <a:r>
              <a:rPr sz="1700" dirty="0">
                <a:solidFill>
                  <a:srgbClr val="646464"/>
                </a:solidFill>
              </a:rPr>
              <a:t>Informed • Uninformed • Local • Adversarial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FCCF7-8B52-3B3C-4A92-72D392DBA753}"/>
              </a:ext>
            </a:extLst>
          </p:cNvPr>
          <p:cNvSpPr txBox="1"/>
          <p:nvPr/>
        </p:nvSpPr>
        <p:spPr>
          <a:xfrm>
            <a:off x="2887640" y="3350871"/>
            <a:ext cx="5748369" cy="15850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4000" b="1" dirty="0">
                <a:solidFill>
                  <a:srgbClr val="1F3756"/>
                </a:solidFill>
              </a:rPr>
              <a:t>Presented by: </a:t>
            </a:r>
            <a:r>
              <a:rPr lang="en-IN" sz="4000" b="1" dirty="0" err="1">
                <a:solidFill>
                  <a:srgbClr val="1F3756"/>
                </a:solidFill>
              </a:rPr>
              <a:t>Jishu</a:t>
            </a:r>
            <a:r>
              <a:rPr lang="en-IN" sz="4000" b="1" dirty="0">
                <a:solidFill>
                  <a:srgbClr val="1F3756"/>
                </a:solidFill>
              </a:rPr>
              <a:t> Ghosh</a:t>
            </a:r>
          </a:p>
          <a:p>
            <a:pPr algn="ctr"/>
            <a:r>
              <a:rPr lang="en-IN" sz="4000" b="1" dirty="0">
                <a:solidFill>
                  <a:srgbClr val="1F3756"/>
                </a:solidFill>
              </a:rPr>
              <a:t>Roll No: 33671025023</a:t>
            </a:r>
          </a:p>
          <a:p>
            <a:pPr algn="ctr"/>
            <a:endParaRPr sz="1700" dirty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65F2C2-E6F1-E736-15E3-D9FBEA374C1C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700" dirty="0">
                <a:solidFill>
                  <a:schemeClr val="bg1"/>
                </a:solidFill>
                <a:latin typeface="Aptos" panose="020B0004020202020204" pitchFamily="34" charset="0"/>
              </a:rPr>
              <a:t>Index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F1951D-31A0-9A0F-447A-E30A1E097EC1}"/>
              </a:ext>
            </a:extLst>
          </p:cNvPr>
          <p:cNvSpPr/>
          <p:nvPr/>
        </p:nvSpPr>
        <p:spPr>
          <a:xfrm>
            <a:off x="0" y="658368"/>
            <a:ext cx="12191695" cy="61996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err="1"/>
              <a:t>Artifical</a:t>
            </a:r>
            <a:r>
              <a:rPr lang="en-IN" dirty="0"/>
              <a:t> </a:t>
            </a:r>
            <a:r>
              <a:rPr lang="en-IN" dirty="0" err="1"/>
              <a:t>intelengence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Search In AI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Types of Search In AI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Informed search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Aptos"/>
              </a:rPr>
              <a:t>A* Search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EF7D70-C9FE-7EBD-882D-AB2129E8D88F}"/>
              </a:ext>
            </a:extLst>
          </p:cNvPr>
          <p:cNvCxnSpPr/>
          <p:nvPr/>
        </p:nvCxnSpPr>
        <p:spPr>
          <a:xfrm>
            <a:off x="5920033" y="658368"/>
            <a:ext cx="0" cy="62986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AAB039-B98D-5BC2-16D1-8131FDAD462D}"/>
              </a:ext>
            </a:extLst>
          </p:cNvPr>
          <p:cNvSpPr txBox="1"/>
          <p:nvPr/>
        </p:nvSpPr>
        <p:spPr>
          <a:xfrm>
            <a:off x="160256" y="707011"/>
            <a:ext cx="567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Topic</a:t>
            </a:r>
          </a:p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CC770-E418-99E0-5CDE-233A2632C423}"/>
              </a:ext>
            </a:extLst>
          </p:cNvPr>
          <p:cNvSpPr txBox="1"/>
          <p:nvPr/>
        </p:nvSpPr>
        <p:spPr>
          <a:xfrm>
            <a:off x="6271968" y="707011"/>
            <a:ext cx="567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Page Number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50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FFFFFF"/>
                </a:solidFill>
                <a:latin typeface="Aptos"/>
              </a:rPr>
              <a:t>What is Artificial Intelligence?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Artificial Intelligence (AI) is a branch of computer science that makes machines perform tasks that normally require human intelligence.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AI can help machines learn, reason, solve problems, understand information, and make decisions.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AI is used in virtual assistants, recommendation systems, robots, self-driving technology, and games.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Search is one of the important techniques used by AI to find solutions to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5402" y="6473952"/>
            <a:ext cx="2760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IN" sz="1400" b="1" dirty="0"/>
              <a:t>1</a:t>
            </a:r>
            <a:endParaRPr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What is Search in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Search is the process of exploring possible states or actions to find a solution to a problem.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A problem is usually described using an initial state, possible actions, a goal test, and a path cost.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The collection of all possible states is called the state space.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Example: finding a route from one city to another can be treated as a search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Types of Search in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35607"/>
            <a:ext cx="18117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Informed  </a:t>
            </a:r>
            <a:r>
              <a:rPr sz="1800" b="1" dirty="0">
                <a:solidFill>
                  <a:srgbClr val="0070C0"/>
                </a:solidFill>
              </a:rP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08" y="1985140"/>
            <a:ext cx="50216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232323"/>
                </a:solidFill>
              </a:rPr>
              <a:t>Uses heuristic information to guide the search.
</a:t>
            </a:r>
            <a:r>
              <a:rPr lang="en-US" sz="1500" b="1" dirty="0">
                <a:solidFill>
                  <a:srgbClr val="232323"/>
                </a:solidFill>
              </a:rPr>
              <a:t>Examples</a:t>
            </a:r>
            <a:r>
              <a:rPr lang="en-US" sz="1500" dirty="0">
                <a:solidFill>
                  <a:srgbClr val="232323"/>
                </a:solidFill>
              </a:rPr>
              <a:t>: Greedy Search, A*.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9304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202818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Uninformed</a:t>
            </a:r>
            <a:r>
              <a:rPr sz="1800" b="1" dirty="0">
                <a:solidFill>
                  <a:srgbClr val="0070C0"/>
                </a:solidFill>
              </a:rPr>
              <a:t>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538728"/>
            <a:ext cx="4861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070C0"/>
                </a:solidFill>
              </a:rPr>
              <a:t>Local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995928"/>
            <a:ext cx="493775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232323"/>
                </a:solidFill>
              </a:rPr>
              <a:t>Looks mainly at neighboring states and tries to improve the current state.
Examples: Hill Climbing.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2900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7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538728"/>
            <a:ext cx="4732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070C0"/>
                </a:solidFill>
              </a:rPr>
              <a:t>Adversarial</a:t>
            </a:r>
            <a:r>
              <a:rPr sz="1800" b="1" dirty="0">
                <a:solidFill>
                  <a:srgbClr val="73559B"/>
                </a:solidFill>
              </a:rPr>
              <a:t>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95928"/>
            <a:ext cx="493775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Used when two or more agents have competing goals.
Examples: Minimax, Alpha-Beta.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118250-A368-62EC-A8B7-4993C379C48F}"/>
              </a:ext>
            </a:extLst>
          </p:cNvPr>
          <p:cNvSpPr txBox="1"/>
          <p:nvPr/>
        </p:nvSpPr>
        <p:spPr>
          <a:xfrm>
            <a:off x="6400799" y="1885689"/>
            <a:ext cx="518443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dirty="0">
                <a:solidFill>
                  <a:srgbClr val="232323"/>
                </a:solidFill>
              </a:rPr>
              <a:t>Uses no extra information about how close a state is to the goal.
</a:t>
            </a:r>
            <a:r>
              <a:rPr sz="1500" b="1" dirty="0">
                <a:solidFill>
                  <a:srgbClr val="232323"/>
                </a:solidFill>
              </a:rPr>
              <a:t>Examples</a:t>
            </a:r>
            <a:r>
              <a:rPr sz="1500" dirty="0">
                <a:solidFill>
                  <a:srgbClr val="232323"/>
                </a:solidFill>
              </a:rPr>
              <a:t>: BFS, DFS, UCS.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Informed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Informed search uses additional knowledge about the problem.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This knowledge is represented by a heuristic function h(n).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h(n) estimates the cost or distance from a current node n to the goal.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Because it has guidance, informed search can avoid exploring many unnecessary states.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Important methods include Greedy Best-First Search and A*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Heuristic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4754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4416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68C5A"/>
                </a:solidFill>
              </a:rPr>
              <a:t>h(n)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01368"/>
            <a:ext cx="4389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An estimate of the cost from node n to the goal.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4754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34416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472C4"/>
                </a:solidFill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01368"/>
            <a:ext cx="39444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dirty="0">
                <a:solidFill>
                  <a:srgbClr val="232323"/>
                </a:solidFill>
              </a:rPr>
              <a:t>For a map problem, straight-line distance to the </a:t>
            </a:r>
            <a:endParaRPr lang="en-IN" sz="1500" dirty="0">
              <a:solidFill>
                <a:srgbClr val="232323"/>
              </a:solidFill>
            </a:endParaRPr>
          </a:p>
          <a:p>
            <a:r>
              <a:rPr sz="1500" dirty="0">
                <a:solidFill>
                  <a:srgbClr val="232323"/>
                </a:solidFill>
              </a:rPr>
              <a:t>destination can be used as a heuristic.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 heuristic helps the search decide which node looks more promising.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 good heuristic can make search faster.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An admissible heuristic never overestimates the actual remaining cost.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Heuristics are problem-dependent: the same heuristic may not work well for every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FFFFFF"/>
                </a:solidFill>
                <a:latin typeface="Aptos"/>
              </a:rPr>
              <a:t>A*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7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298448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3559B"/>
                </a:solidFill>
              </a:rPr>
              <a:t>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3566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f(n) = g(n) + h(n)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18872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0" y="129844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472C4"/>
                </a:solidFill>
              </a:rPr>
              <a:t>g(n)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755648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Cost from start to 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29844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68C5A"/>
                </a:solidFill>
              </a:rPr>
              <a:t>h(n)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55648"/>
            <a:ext cx="2651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Estimated cost from n to goal.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A* combines the actual cost already travelled with an estimate of the remaining cost.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At each step, it selects the node with the smallest f(n).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A* is widely used in pathfinding and route planning.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With appropriate conditions on the heuristic, A* can find an optimal solution.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646464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Uninformed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Uninformed search is also called blind search.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It does not use a heuristic to estimate the distance to the goal.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search is guided by the structure of the state space and, in some methods, by path cost.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Common methods: Breadth-First Search (BFS), Depth-First Search (DFS), and Uniform-Cost Search (UCS).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It is useful when we do not have special knowledge about the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Breadth-First Search (BFS)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527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472C4"/>
                </a:solidFill>
              </a:rPr>
              <a:t>How BFS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4846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BFS explores the search tree level by level. It expands the shallowest unexpanded node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527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68C5A"/>
                </a:solidFill>
              </a:rPr>
              <a:t>Data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09928"/>
            <a:ext cx="4846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BFS normally uses a Queue (FIFO): First In, First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Start from the initial node.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Visit all nodes at the current depth before going deeper.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Repeat until the goal is found.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BFS is complete and gives a shortest path when all step costs are equal.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Depth-First Search (DFS)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527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472C4"/>
                </a:solidFill>
              </a:rPr>
              <a:t>How DFS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4846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DFS follows one branch as deeply as possible before backtracking.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527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68C5A"/>
                </a:solidFill>
              </a:rPr>
              <a:t>Data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09928"/>
            <a:ext cx="4846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DFS can be implemented using a Stack (LIFO): Last In, First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Start from the initial node.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Choose a child and continue deeper.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When a dead end is reached, backtrack.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DFS usually uses less memory than BFS, but it does not generally find the shortest path.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Local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Local search starts with a candidate solution and tries to improve it.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It usually stores only the current state and a small amount of additional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It is useful for optimization problems where the final state is more important than the exact path.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Examples include Hill Climbing and Simulated Annealing.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Common problems are local maxima, plateaus, and ridges.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Hill Climbing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52728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9137"/>
                </a:solidFill>
              </a:rPr>
              <a:t>Basic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50527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232323"/>
                </a:solidFill>
              </a:rPr>
              <a:t>Move from the current state to a neighboring state that has a better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7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527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3559B"/>
                </a:solidFill>
              </a:rPr>
              <a:t>Stopping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09928"/>
            <a:ext cx="4876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232323"/>
                </a:solidFill>
              </a:rPr>
              <a:t>Stop when no neighboring state is better. The result may be a local optimum.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Choose an initial state.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Evaluate its neighboring states.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Move to a better neighbor.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Repeat until no improvement is possible.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Simple and memory-efficient, but it can get stuck at a local optimum.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Adversarial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Adversarial search is used when an agent competes against another agent.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The agents have opposite or competing goals.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The problem is represented as a game tree containing possible moves.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Examples: Chess, Tic-Tac-Toe, Checkers, and Connect Four.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Minimax is a basic algorithm used for adversarial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Minimax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527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472C4"/>
                </a:solidFill>
              </a:rPr>
              <a:t>MAX 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4846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Tries to choose the move with the highest possible utility.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7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527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3559B"/>
                </a:solidFill>
              </a:rPr>
              <a:t>MIN Player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09928"/>
            <a:ext cx="4846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Tries to choose the move with the lowest utility for MAX.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Build or explore a game tree.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Assign values to terminal states using a utility function.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At MAX levels, select the maximum child value.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At MIN levels, select the minimum child value.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selected path determines the move made by MAX.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Alpha-Beta 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Alpha-Beta Pruning is an optimization of the Minimax algorithm.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It removes branches that cannot change the final decision.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Alpha (α) represents the best value that MAX can guarantee so far.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Beta (β) represents the best value that MIN can guarantee so far.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By pruning unnecessary branches, Minimax can search deeper in the same amount of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FFFFFF"/>
                </a:solidFill>
                <a:latin typeface="Aptos"/>
              </a:rPr>
              <a:t>Comparison of Search Techniques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445640"/>
              </p:ext>
            </p:extLst>
          </p:nvPr>
        </p:nvGraphicFramePr>
        <p:xfrm>
          <a:off x="594360" y="1234440"/>
          <a:ext cx="9884855" cy="393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9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ysClr val="windowText" lastClr="000000"/>
                          </a:solidFill>
                        </a:rPr>
                        <a:t>Type</a:t>
                      </a:r>
                      <a:endParaRPr sz="1500" b="1" dirty="0">
                        <a:solidFill>
                          <a:sysClr val="windowText" lastClr="000000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ysClr val="windowText" lastClr="000000"/>
                          </a:solidFill>
                        </a:rPr>
                        <a:t>Main idea</a:t>
                      </a:r>
                      <a:endParaRPr sz="1500" b="1" dirty="0">
                        <a:solidFill>
                          <a:sysClr val="windowText" lastClr="000000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ysClr val="windowText" lastClr="000000"/>
                          </a:solidFill>
                        </a:rPr>
                        <a:t>Examples</a:t>
                      </a:r>
                      <a:endParaRPr sz="1500" b="1" dirty="0">
                        <a:solidFill>
                          <a:sysClr val="windowText" lastClr="000000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ysClr val="windowText" lastClr="000000"/>
                          </a:solidFill>
                        </a:rPr>
                        <a:t>Common use</a:t>
                      </a:r>
                      <a:endParaRPr sz="1500" b="1" dirty="0">
                        <a:solidFill>
                          <a:sysClr val="windowText" lastClr="000000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Uninformed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32323"/>
                          </a:solidFill>
                        </a:rPr>
                        <a:t>No heuristic</a:t>
                      </a:r>
                      <a:endParaRPr sz="15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BFS, DFS, UCS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General search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Informed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Uses heuristic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Greedy, A*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Path finding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Local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32323"/>
                          </a:solidFill>
                        </a:rPr>
                        <a:t>Improves current state</a:t>
                      </a:r>
                      <a:endParaRPr sz="15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Hill Climbing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Optimization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Adversarial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Competing agents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2323"/>
                          </a:solidFill>
                        </a:rPr>
                        <a:t>Minimax</a:t>
                      </a:r>
                      <a:endParaRPr sz="1500" b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32323"/>
                          </a:solidFill>
                        </a:rPr>
                        <a:t>Games</a:t>
                      </a:r>
                      <a:endParaRPr sz="15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Applications of AI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GPS and route planning — finding paths between locations.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Robotics — navigation and movement planning.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Games — choosing moves in competitive environments.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Puzzle solving — finding sequences of actions to reach a goal.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Scheduling and optimization — finding good arrangements under constraints.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Computer networks — selecting efficient routes for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AI search techniques help an intelligent system find solutions in a large set of possibilities.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Uninformed search works without heuristic knowledge, while informed search uses heuristics.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Local search focuses on improving a current solution.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Adversarial search handles problems where agents compete against each other.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Choosing the right search method depends on the problem, available knowledge, and required solution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48829" y="2556748"/>
            <a:ext cx="2863861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 dirty="0">
                <a:solidFill>
                  <a:srgbClr val="1F3756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1288</Words>
  <Application>Microsoft Office PowerPoint</Application>
  <PresentationFormat>Widescreen</PresentationFormat>
  <Paragraphs>177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JISHU GHOSH</dc:creator>
  <cp:keywords/>
  <dc:description>generated using python-pptx</dc:description>
  <cp:lastModifiedBy>JISHU GHOSH</cp:lastModifiedBy>
  <cp:revision>16</cp:revision>
  <dcterms:created xsi:type="dcterms:W3CDTF">2013-01-27T09:14:16Z</dcterms:created>
  <dcterms:modified xsi:type="dcterms:W3CDTF">2026-09-29T14:34:01Z</dcterms:modified>
  <cp:category/>
</cp:coreProperties>
</file>